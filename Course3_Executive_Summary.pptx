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&amp; Limousine Commission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A/B Test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vs. Fare Amount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384048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8770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384048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8770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749040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8770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26480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PACE: Analyze → Execute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384048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8770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503920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3 — The Power of Statistics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does payment method affect fare amount?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11521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9144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Luana Rodriguez (Senior Data Analyst, Automatidata) assigned this A/B test to investigate whether customers who pay by credit card tend to pay higher fare amounts than cash customers. This is part of the broader NYC TLC fare prediction project.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697480"/>
            <a:ext cx="56692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97480"/>
            <a:ext cx="56692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Null Hypothesis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difference in the average fare amount between credit card and cash customers.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56692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697480"/>
            <a:ext cx="5669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8072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Hₐ  Alternative Hypothesis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difference in the average fare amount between credit card and cash customers.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617720"/>
            <a:ext cx="56692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617720"/>
            <a:ext cx="56692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2744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50749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(5%) — standard threshold for statistical significance.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617720"/>
            <a:ext cx="56692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4617720"/>
            <a:ext cx="56692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72744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50749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Welch's t-test (equal_var=False) — accounts for unequal group sizes and variances.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NYC Yellow Taxi Trip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533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22,699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0789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3533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297680" y="24505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0789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3533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75320" y="24505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4787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8221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0040" y="4919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Tested (CC vs Cash)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54787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38221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$13.43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297680" y="4919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Fare — Credit Card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54787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38221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$12.21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275320" y="4919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Fare — Cash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Amount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mean comparison — Credit Card vs. Cash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577840" cy="35661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24128"/>
            <a:ext cx="576072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4754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$1.22 gap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20040" y="5029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mean ($13.43) exceeds cash mean ($12.21) — consistent across the full dataset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97680" y="4754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297680" y="5029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distributions are right-skewed; credit card has a slightly heavier upper tail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75320" y="4754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 credit card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75320" y="5029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the dominant payment type, giving a larger and more representative sample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&amp; Confidence Intervals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95% CIs confirm statistical significance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577840" cy="32918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24128"/>
            <a:ext cx="5760720" cy="3291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4480560"/>
            <a:ext cx="11521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544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Box plots (clipped at $50): The credit card distribution shows a slightly higher median and wider spread than cash, with outliers present in both groups.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49834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intervals: The 95% CIs for the two group means do not overlap, providing visual confirmation that the difference is statistically significant.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Welch's t-test at α = 0.05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115214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389120"/>
            <a:ext cx="2834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4389120"/>
            <a:ext cx="2011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4434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66360" y="4389120"/>
            <a:ext cx="66751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9512" y="443484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4736592"/>
            <a:ext cx="2834640" cy="347472"/>
          </a:xfrm>
          <a:prstGeom prst="rect">
            <a:avLst/>
          </a:prstGeom>
          <a:solidFill>
            <a:srgbClr val="EFF6F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4782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54680" y="4736592"/>
            <a:ext cx="2011680" cy="347472"/>
          </a:xfrm>
          <a:prstGeom prst="rect">
            <a:avLst/>
          </a:prstGeom>
          <a:solidFill>
            <a:srgbClr val="EFF6F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27832" y="4782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6.8668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166360" y="4736592"/>
            <a:ext cx="6675120" cy="347472"/>
          </a:xfrm>
          <a:prstGeom prst="rect">
            <a:avLst/>
          </a:prstGeom>
          <a:solidFill>
            <a:srgbClr val="EFF6F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9512" y="478231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— credit card mean significantly higher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" y="5084064"/>
            <a:ext cx="28346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" y="5129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54680" y="5084064"/>
            <a:ext cx="2011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27832" y="5129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66360" y="5084064"/>
            <a:ext cx="6675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9512" y="512978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α = 0.05 threshold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0040" y="5431536"/>
            <a:ext cx="2834640" cy="347472"/>
          </a:xfrm>
          <a:prstGeom prst="rect">
            <a:avLst/>
          </a:prstGeom>
          <a:solidFill>
            <a:srgbClr val="EFF6F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3192" y="5477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154680" y="5431536"/>
            <a:ext cx="2011680" cy="347472"/>
          </a:xfrm>
          <a:prstGeom prst="rect">
            <a:avLst/>
          </a:prstGeom>
          <a:solidFill>
            <a:srgbClr val="EFF6F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27832" y="5477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166360" y="5431536"/>
            <a:ext cx="6675120" cy="347472"/>
          </a:xfrm>
          <a:prstGeom prst="rect">
            <a:avLst/>
          </a:prstGeom>
          <a:solidFill>
            <a:srgbClr val="EFF6F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39512" y="547725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— chosen at project outset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0040" y="5779008"/>
            <a:ext cx="28346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3192" y="5824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154680" y="5779008"/>
            <a:ext cx="2011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27832" y="5824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166360" y="5779008"/>
            <a:ext cx="6675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39512" y="582472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evidence; difference is not due to chance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 — and what they don't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37490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Credit card → higher fares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customers pay ~$1.22 more per trip on average. Longer trips (e.g., airports) are more likely paid by card, making payment type a revenue signal.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078992"/>
            <a:ext cx="37490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078992"/>
            <a:ext cx="37490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1887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Strong statistical 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6.8668, p &lt; 0.0001 — the difference is highly unlikely to be due to random chance across 22,699 records.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1078992"/>
            <a:ext cx="37490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078992"/>
            <a:ext cx="3749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1887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Revenue strategy opportunity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credit card adoption could improve TLC revenue visibility and driver income tracking, as cash tips go unrecorded.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11521440" cy="269748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5935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 &amp; Assumptions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370832"/>
            <a:ext cx="137160" cy="1371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34256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Self-selection bias: Customers choose their payment method — this is not a true randomized experiment. Causal conclusions cannot be drawn.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882896"/>
            <a:ext cx="137160" cy="1371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846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Confounders: The fare difference may be driven by trip distance, time of day, or RatecodeID (airport trips) rather than payment type itself.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37160" cy="1371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358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tip underreporting: ~33% of trips are cash; tips recorded as $0, biasing any tip-based analysis.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5907024"/>
            <a:ext cx="137160" cy="1371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87044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fare_amount ranges from -$120 to $999.99 — anomalous records must be cleaned before regression modeling.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before proceeding to regression model construction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57607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858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934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2161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anomalous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60934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negative fares, zero-distance trips, and negative duration records before model training.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078992"/>
            <a:ext cx="57607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078992"/>
            <a:ext cx="6858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0934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2161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confounders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60934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 to separate payment type effect from trip distance and RatecodeID effects.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62072"/>
            <a:ext cx="57607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62072"/>
            <a:ext cx="6858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9242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29992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tip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39242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credit card tipping patterns by hour, vendor, and trip duration to identify revenue drivers.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2862072"/>
            <a:ext cx="57607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2862072"/>
            <a:ext cx="6858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39242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9992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39242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trip_distance as primary predictor of fare_amount with engineered time features (Course 4).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645152"/>
            <a:ext cx="57607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645152"/>
            <a:ext cx="6858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17550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4782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517550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Tableau map of fare distributions and payment trends for Juliana Soto and Titus Nelson at TLC.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4645152"/>
            <a:ext cx="57607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645152"/>
            <a:ext cx="68580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17550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4782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more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517550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A/B test on a larger, properly randomized sample to support causal conclusions.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5361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08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two-sample t-test (t = 6.8668, p &lt; 0.0001) rejects the null hypothesis at α = 0.05.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957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customers pay statistically significantly higher average fares ($13.43 vs. $12.21).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101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2826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~$1.22 gap likely reflects longer trips being paid by card, not a direct effect of payment method.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1970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1696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 quality issues remain — cleaning is required before regression model training.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0840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50566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ready to proceed to Course 4: regression model construction.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  |  NYC TLC Project  |  Course 3 Statistical Analysis  |  June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Automatidata – NYC TLC Statistical Analysis Executive Summary</dc:title>
  <dc:subject>PptxGenJS Presentation</dc:subject>
  <dc:creator>PptxGenJS</dc:creator>
  <cp:lastModifiedBy>PptxGenJS</cp:lastModifiedBy>
  <cp:revision>1</cp:revision>
  <dcterms:created xsi:type="dcterms:W3CDTF">2026-06-19T13:50:45Z</dcterms:created>
  <dcterms:modified xsi:type="dcterms:W3CDTF">2026-06-19T13:50:45Z</dcterms:modified>
</cp:coreProperties>
</file>